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Default Extension="gif" ContentType="image/gif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34.xml" Type="http://schemas.openxmlformats.org/officeDocument/2006/relationships/slide" Id="rId39"/><Relationship Target="slides/slide33.xml" Type="http://schemas.openxmlformats.org/officeDocument/2006/relationships/slide" Id="rId38"/><Relationship Target="slides/slide32.xml" Type="http://schemas.openxmlformats.org/officeDocument/2006/relationships/slide" Id="rId37"/><Relationship Target="slides/slide14.xml" Type="http://schemas.openxmlformats.org/officeDocument/2006/relationships/slide" Id="rId19"/><Relationship Target="slides/slide31.xml" Type="http://schemas.openxmlformats.org/officeDocument/2006/relationships/slide" Id="rId36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9.xml" Type="http://schemas.openxmlformats.org/officeDocument/2006/relationships/slide" Id="rId34"/><Relationship Target="slides/slide30.xml" Type="http://schemas.openxmlformats.org/officeDocument/2006/relationships/slide" Id="rId35"/><Relationship Target="slides/slide27.xml" Type="http://schemas.openxmlformats.org/officeDocument/2006/relationships/slide" Id="rId32"/><Relationship Target="slides/slide28.xml" Type="http://schemas.openxmlformats.org/officeDocument/2006/relationships/slide" Id="rId33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slides/slide35.xml" Type="http://schemas.openxmlformats.org/officeDocument/2006/relationships/slide" Id="rId40"/><Relationship Target="theme/theme2.xml" Type="http://schemas.openxmlformats.org/officeDocument/2006/relationships/theme" Id="rId1"/><Relationship Target="slides/slide17.xml" Type="http://schemas.openxmlformats.org/officeDocument/2006/relationships/slide" Id="rId22"/><Relationship Target="slides/slide36.xml" Type="http://schemas.openxmlformats.org/officeDocument/2006/relationships/slide" Id="rId41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" name="Shape 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Shape 2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" name="Shape 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" name="Shape 3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9" name="Shape 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" name="Shape 4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1" name="Shape 4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2" name="Shape 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3" name="Shape 5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9" name="Shape 5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0" name="Shape 6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7" name="Shape 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8" name="Shape 6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4" name="Shape 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2" name="Shape 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0" name="Shape 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3" name="Shape 1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9" name="Shape 1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5" name="Shape 1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6" name="Shape 1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8" name="Shape 1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9" name="Shape 14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4" name="Shape 1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about the product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0" name="Shape 1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1" name="Shape 16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why it is useful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6" name="Shape 1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7" name="Shape 16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Plan of Attack : jay = 1,2,3 bryan = 4,5 Branton=6,9 Kristen = 7,8 Nick =11,12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2" name="Shape 1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3" name="Shape 17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Plan of Attack : jay = 1,2,3 bryan = 4,5 Branton=6,9 Kristen = 7,8 Nick =11,12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7" name="Shape 1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8" name="Shape 17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9" name="Shape 17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Plan of Attack : jay = 1,2,3 bryan = 4,5 Branton=6,9 Kristen = 7,8 Nick =11,12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5" name="Shape 1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2" name="Shape 1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3" name="Shape 19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where we are and what we have done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8" name="Shape 1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9" name="Shape 19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0" name="Shape 20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what we plan to do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4" name="Shape 20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5" name="Shape 20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what we plan to do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7" name="Shape 2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8" name="Shape 21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the problems we have come across. kristen is a poopy head. </a:t>
            </a:r>
          </a:p>
          <a:p>
            <a:r>
              <a:t/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3" name="Shape 2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4" name="Shape 22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25" name="Shape 22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the problems we have come across. kristen is a poopy head. </a:t>
            </a:r>
          </a:p>
          <a:p>
            <a:r>
              <a:t/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9" name="Shape 2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0" name="Shape 23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1" name="Shape 23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the problems we have come across. kristen is a poopy head. Jay is a bigger poopy head. </a:t>
            </a:r>
          </a:p>
          <a:p>
            <a:r>
              <a:t/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4" name="Shape 2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5" name="Shape 23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the problems we have come across. kristen is a poopy head. </a:t>
            </a:r>
          </a:p>
          <a:p>
            <a:r>
              <a:t/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0" name="Shape 2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1" name="Shape 24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2" name="Shape 2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why it is useful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0" name="Shape 2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Shape 26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Dont think we need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6" name="Shape 2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Shape 26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8" name="Shape 26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why it is useful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4" name="Shape 2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5" name="Shape 27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what we plan to do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 txBox="1"/>
          <p:nvPr>
            <p:ph type="ctrTitle"/>
          </p:nvPr>
        </p:nvSpPr>
        <p:spPr>
          <a:xfrm>
            <a:off y="2111123" x="685800"/>
            <a:ext cy="15465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3048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9"/>
          <p:cNvSpPr txBox="1"/>
          <p:nvPr>
            <p:ph idx="1" type="subTitle"/>
          </p:nvPr>
        </p:nvSpPr>
        <p:spPr>
          <a:xfrm>
            <a:off y="3786737" x="685800"/>
            <a:ext cy="10464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1905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0" name="Shape 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" name="Shape 1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 indent="-285750" marL="742950">
              <a:defRPr/>
            </a:lvl2pPr>
            <a:lvl3pPr rtl="0" indent="-228600" marL="1143000">
              <a:defRPr/>
            </a:lvl3pPr>
            <a:lvl4pPr rtl="0" indent="-228600" marL="160020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13" name="Shape 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16" name="Shape 16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19" name="Shape 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" name="Shape 20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21" name="Shape 21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3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228600" mar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-285750" marL="74295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-228600" marL="114300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-228600" marL="16002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-228600" marL="20574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-228600" marL="25146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-228600" marL="29718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-228600" marL="34290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-228600" marL="38862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0.gif" Type="http://schemas.openxmlformats.org/officeDocument/2006/relationships/image" Id="rId4"/><Relationship Target="../media/image01.png" Type="http://schemas.openxmlformats.org/officeDocument/2006/relationships/image" Id="rId3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8.jpg" Type="http://schemas.openxmlformats.org/officeDocument/2006/relationships/image" Id="rId4"/><Relationship Target="../media/image01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7.png" Type="http://schemas.openxmlformats.org/officeDocument/2006/relationships/image" Id="rId4"/><Relationship Target="../media/image01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2.png" Type="http://schemas.openxmlformats.org/officeDocument/2006/relationships/image" Id="rId4"/><Relationship Target="../media/image03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6.jpg" Type="http://schemas.openxmlformats.org/officeDocument/2006/relationships/image" Id="rId4"/><Relationship Target="../media/image04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5.png" Type="http://schemas.openxmlformats.org/officeDocument/2006/relationships/image" Id="rId4"/><Relationship Target="../media/image04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20.png" Type="http://schemas.openxmlformats.org/officeDocument/2006/relationships/image" Id="rId4"/><Relationship Target="../media/image04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8.png" Type="http://schemas.openxmlformats.org/officeDocument/2006/relationships/image" Id="rId4"/><Relationship Target="../media/image04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1.png" Type="http://schemas.openxmlformats.org/officeDocument/2006/relationships/image" Id="rId4"/><Relationship Target="../media/image01.png" Type="http://schemas.openxmlformats.org/officeDocument/2006/relationships/image" Id="rId3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2.png" Type="http://schemas.openxmlformats.org/officeDocument/2006/relationships/image" Id="rId4"/><Relationship Target="../media/image01.png" Type="http://schemas.openxmlformats.org/officeDocument/2006/relationships/image" Id="rId3"/><Relationship Target="../media/image10.jpg" Type="http://schemas.openxmlformats.org/officeDocument/2006/relationships/image" Id="rId6"/><Relationship Target="../media/image09.jpg" Type="http://schemas.openxmlformats.org/officeDocument/2006/relationships/image" Id="rId5"/><Relationship Target="../media/image14.png" Type="http://schemas.openxmlformats.org/officeDocument/2006/relationships/image" Id="rId8"/><Relationship Target="../media/image13.jpg" Type="http://schemas.openxmlformats.org/officeDocument/2006/relationships/image" Id="rId7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7.png" Type="http://schemas.openxmlformats.org/officeDocument/2006/relationships/image" Id="rId4"/><Relationship Target="../media/image16.png" Type="http://schemas.openxmlformats.org/officeDocument/2006/relationships/image" Id="rId3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4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4.xml" Type="http://schemas.openxmlformats.org/officeDocument/2006/relationships/slideLayout" Id="rId1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9.png" Type="http://schemas.openxmlformats.org/officeDocument/2006/relationships/image" Id="rId4"/><Relationship Target="../media/image01.png" Type="http://schemas.openxmlformats.org/officeDocument/2006/relationships/image" Id="rId3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5.png" Type="http://schemas.openxmlformats.org/officeDocument/2006/relationships/image" Id="rId3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1.png" Type="http://schemas.openxmlformats.org/officeDocument/2006/relationships/image" Id="rId4"/><Relationship Target="../media/image16.png" Type="http://schemas.openxmlformats.org/officeDocument/2006/relationships/image" Id="rId3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31.png" Type="http://schemas.openxmlformats.org/officeDocument/2006/relationships/image" Id="rId4"/><Relationship Target="../media/image16.png" Type="http://schemas.openxmlformats.org/officeDocument/2006/relationships/image" Id="rId3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6.png" Type="http://schemas.openxmlformats.org/officeDocument/2006/relationships/image" Id="rId3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26.png" Type="http://schemas.openxmlformats.org/officeDocument/2006/relationships/image" Id="rId4"/><Relationship Target="../media/image23.png" Type="http://schemas.openxmlformats.org/officeDocument/2006/relationships/image" Id="rId3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30.png" Type="http://schemas.openxmlformats.org/officeDocument/2006/relationships/image" Id="rId4"/><Relationship Target="../media/image24.png" Type="http://schemas.openxmlformats.org/officeDocument/2006/relationships/image" Id="rId3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29.xml.rels><?xml version="1.0" encoding="UTF-8" standalone="yes"?><Relationships xmlns="http://schemas.openxmlformats.org/package/2006/relationships"><Relationship Target="../notesSlides/notesSlide29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29.png" Type="http://schemas.openxmlformats.org/officeDocument/2006/relationships/image" Id="rId4"/><Relationship Target="../media/image01.png" Type="http://schemas.openxmlformats.org/officeDocument/2006/relationships/image" Id="rId3"/><Relationship Target="../media/image26.png" Type="http://schemas.openxmlformats.org/officeDocument/2006/relationships/image" Id="rId6"/><Relationship Target="../media/image22.png" Type="http://schemas.openxmlformats.org/officeDocument/2006/relationships/image" Id="rId5"/></Relationships>
</file>

<file path=ppt/slides/_rels/slide30.xml.rels><?xml version="1.0" encoding="UTF-8" standalone="yes"?><Relationships xmlns="http://schemas.openxmlformats.org/package/2006/relationships"><Relationship Target="../notesSlides/notesSlide30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31.xml.rels><?xml version="1.0" encoding="UTF-8" standalone="yes"?><Relationships xmlns="http://schemas.openxmlformats.org/package/2006/relationships"><Relationship Target="../notesSlides/notesSlide3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32.xml.rels><?xml version="1.0" encoding="UTF-8" standalone="yes"?><Relationships xmlns="http://schemas.openxmlformats.org/package/2006/relationships"><Relationship Target="../notesSlides/notesSlide32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33.xml.rels><?xml version="1.0" encoding="UTF-8" standalone="yes"?><Relationships xmlns="http://schemas.openxmlformats.org/package/2006/relationships"><Relationship Target="../notesSlides/notesSlide33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5.png" Type="http://schemas.openxmlformats.org/officeDocument/2006/relationships/image" Id="rId3"/></Relationships>
</file>

<file path=ppt/slides/_rels/slide34.xml.rels><?xml version="1.0" encoding="UTF-8" standalone="yes"?><Relationships xmlns="http://schemas.openxmlformats.org/package/2006/relationships"><Relationship Target="../notesSlides/notesSlide3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5.png" Type="http://schemas.openxmlformats.org/officeDocument/2006/relationships/image" Id="rId4"/><Relationship Target="../media/image16.png" Type="http://schemas.openxmlformats.org/officeDocument/2006/relationships/image" Id="rId3"/></Relationships>
</file>

<file path=ppt/slides/_rels/slide35.xml.rels><?xml version="1.0" encoding="UTF-8" standalone="yes"?><Relationships xmlns="http://schemas.openxmlformats.org/package/2006/relationships"><Relationship Target="../notesSlides/notesSlide35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15.png" Type="http://schemas.openxmlformats.org/officeDocument/2006/relationships/image" Id="rId3"/></Relationships>
</file>

<file path=ppt/slides/_rels/slide36.xml.rels><?xml version="1.0" encoding="UTF-8" standalone="yes"?><Relationships xmlns="http://schemas.openxmlformats.org/package/2006/relationships"><Relationship Target="../notesSlides/notesSlide36.xml" Type="http://schemas.openxmlformats.org/officeDocument/2006/relationships/notesSlide" Id="rId2"/><Relationship Target="../slideLayouts/slideLayout4.xml" Type="http://schemas.openxmlformats.org/officeDocument/2006/relationships/slideLayout" Id="rId1"/><Relationship Target="../media/image28.png" Type="http://schemas.openxmlformats.org/officeDocument/2006/relationships/image" Id="rId4"/><Relationship Target="../media/image01.png" Type="http://schemas.openxmlformats.org/officeDocument/2006/relationships/image" Id="rId3"/><Relationship Target="../media/image27.png" Type="http://schemas.openxmlformats.org/officeDocument/2006/relationships/image" Id="rId5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Shape 23"/>
          <p:cNvSpPr txBox="1"/>
          <p:nvPr>
            <p:ph type="ctrTitle"/>
          </p:nvPr>
        </p:nvSpPr>
        <p:spPr>
          <a:xfrm>
            <a:off y="1290949" x="685800"/>
            <a:ext cy="1595100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CurrentSee</a:t>
            </a:r>
          </a:p>
        </p:txBody>
      </p:sp>
      <p:sp>
        <p:nvSpPr>
          <p:cNvPr id="24" name="Shape 24"/>
          <p:cNvSpPr txBox="1"/>
          <p:nvPr>
            <p:ph idx="1" type="subTitle"/>
          </p:nvPr>
        </p:nvSpPr>
        <p:spPr>
          <a:xfrm>
            <a:off y="3222103" x="685800"/>
            <a:ext cy="3304200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Group Prograham Cracker: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Jay Mutarevic </a:t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Kristen Morse</a:t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Branton Horsley</a:t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Nick Krause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PowWow Energy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FFFFFF"/>
                </a:solidFill>
              </a:rPr>
              <a:t>Mentor: Olivier Jerphagnon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Shape 29"/>
          <p:cNvSpPr txBox="1"/>
          <p:nvPr>
            <p:ph type="ctrTitle"/>
          </p:nvPr>
        </p:nvSpPr>
        <p:spPr>
          <a:xfrm>
            <a:off y="633575" x="1549975"/>
            <a:ext cy="12422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sz="3600" lang="en"/>
              <a:t>What are we doing wrong?</a:t>
            </a:r>
          </a:p>
          <a:p>
            <a:r>
              <a:t/>
            </a:r>
          </a:p>
        </p:txBody>
      </p:sp>
      <p:sp>
        <p:nvSpPr>
          <p:cNvPr id="30" name="Shape 30"/>
          <p:cNvSpPr txBox="1"/>
          <p:nvPr>
            <p:ph idx="1" type="subTitle"/>
          </p:nvPr>
        </p:nvSpPr>
        <p:spPr>
          <a:xfrm>
            <a:off y="2332500" x="3906750"/>
            <a:ext cy="4525499" cx="48008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>
              <a:buNone/>
            </a:pPr>
            <a:r>
              <a:rPr sz="2400"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  <a:p>
            <a:r>
              <a:t/>
            </a:r>
          </a:p>
          <a:p>
            <a:pPr algn="l" rtl="0" lvl="0" indent="-419100" marL="457200">
              <a:buClr>
                <a:srgbClr val="FFFFFF"/>
              </a:buClr>
              <a:buSzPct val="208333"/>
              <a:buFont typeface="Arial"/>
              <a:buChar char="•"/>
            </a:pPr>
            <a:r>
              <a:rPr sz="2400" lang="en">
                <a:solidFill>
                  <a:srgbClr val="FFFFFF"/>
                </a:solidFill>
              </a:rPr>
              <a:t>Energy uses fossil fuels: gas, coal, etc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 rtl="0" lvl="0">
              <a:buNone/>
            </a:pPr>
            <a:r>
              <a:rPr sz="2400" lang="en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1" name="Shape 31"/>
          <p:cNvSpPr/>
          <p:nvPr/>
        </p:nvSpPr>
        <p:spPr>
          <a:xfrm>
            <a:off y="2702362" x="516812"/>
            <a:ext cy="2924175" cx="29622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" name="Shape 36"/>
          <p:cNvSpPr txBox="1"/>
          <p:nvPr>
            <p:ph type="ctrTitle"/>
          </p:nvPr>
        </p:nvSpPr>
        <p:spPr>
          <a:xfrm>
            <a:off y="0" x="1371600"/>
            <a:ext cy="12422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3600" lang="en"/>
              <a:t>       How can we take action? </a:t>
            </a:r>
          </a:p>
        </p:txBody>
      </p:sp>
      <p:sp>
        <p:nvSpPr>
          <p:cNvPr id="37" name="Shape 37"/>
          <p:cNvSpPr txBox="1"/>
          <p:nvPr>
            <p:ph idx="1" type="subTitle"/>
          </p:nvPr>
        </p:nvSpPr>
        <p:spPr>
          <a:xfrm>
            <a:off y="1776900" x="4263500"/>
            <a:ext cy="4525499" cx="44637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indent="-419100" marL="457200">
              <a:buClr>
                <a:srgbClr val="FFFFFF"/>
              </a:buClr>
              <a:buSzPct val="208333"/>
              <a:buFont typeface="Arial"/>
              <a:buChar char="•"/>
            </a:pPr>
            <a:r>
              <a:rPr sz="2400" lang="en">
                <a:solidFill>
                  <a:srgbClr val="FFFFFF"/>
                </a:solidFill>
              </a:rPr>
              <a:t>IDEA:</a:t>
            </a:r>
          </a:p>
          <a:p>
            <a:r>
              <a:t/>
            </a:r>
          </a:p>
          <a:p>
            <a:r>
              <a:t/>
            </a:r>
          </a:p>
          <a:p>
            <a:pPr algn="l" rtl="0" lvl="0">
              <a:buNone/>
            </a:pPr>
            <a:r>
              <a:rPr sz="2400" lang="en">
                <a:solidFill>
                  <a:srgbClr val="FFFFFF"/>
                </a:solidFill>
              </a:rPr>
              <a:t>get consumers to SEE their CURRENT electric usage!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 rtl="0" lvl="0">
              <a:buNone/>
            </a:pPr>
            <a:r>
              <a:rPr sz="2400" lang="en">
                <a:solidFill>
                  <a:srgbClr val="FFFFFF"/>
                </a:solidFill>
              </a:rPr>
              <a:t>allow them to understand the difference they can make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38" name="Shape 38"/>
          <p:cNvSpPr/>
          <p:nvPr/>
        </p:nvSpPr>
        <p:spPr>
          <a:xfrm>
            <a:off y="2388724" x="508586"/>
            <a:ext cy="4042373" cx="340962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" name="Shape 43"/>
          <p:cNvSpPr txBox="1"/>
          <p:nvPr>
            <p:ph type="ctrTitle"/>
          </p:nvPr>
        </p:nvSpPr>
        <p:spPr>
          <a:xfrm>
            <a:off y="237150" x="2451875"/>
            <a:ext cy="1242299" cx="66921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3600" lang="en"/>
              <a:t>Current See: </a:t>
            </a:r>
          </a:p>
          <a:p>
            <a:pPr rtl="0" lvl="0">
              <a:buNone/>
            </a:pPr>
            <a:r>
              <a:rPr sz="3600" lang="en"/>
              <a:t>providing a usable solution</a:t>
            </a:r>
          </a:p>
        </p:txBody>
      </p:sp>
      <p:sp>
        <p:nvSpPr>
          <p:cNvPr id="44" name="Shape 44"/>
          <p:cNvSpPr txBox="1"/>
          <p:nvPr>
            <p:ph idx="1" type="subTitle"/>
          </p:nvPr>
        </p:nvSpPr>
        <p:spPr>
          <a:xfrm>
            <a:off y="2850925" x="6453775"/>
            <a:ext cy="1750500" cx="25904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indent="-419100" marL="457200">
              <a:buClr>
                <a:srgbClr val="FFFFFF"/>
              </a:buClr>
              <a:buSzPct val="208333"/>
              <a:buFont typeface="Arial"/>
              <a:buChar char="•"/>
            </a:pPr>
            <a:r>
              <a:rPr sz="2400" lang="en">
                <a:solidFill>
                  <a:srgbClr val="FFFFFF"/>
                </a:solidFill>
              </a:rPr>
              <a:t>
</a:t>
            </a:r>
            <a:r>
              <a:rPr sz="2400" lang="en">
                <a:solidFill>
                  <a:srgbClr val="FFFFFF"/>
                </a:solidFill>
              </a:rPr>
              <a:t>user friendly</a:t>
            </a:r>
          </a:p>
          <a:p>
            <a:pPr algn="l" rtl="0" lvl="0" indent="-419100" marL="457200">
              <a:buClr>
                <a:srgbClr val="FFFFFF"/>
              </a:buClr>
              <a:buSzPct val="208333"/>
              <a:buFont typeface="Arial"/>
              <a:buChar char="•"/>
            </a:pPr>
            <a:r>
              <a:rPr sz="2400" lang="en">
                <a:solidFill>
                  <a:srgbClr val="FFFFFF"/>
                </a:solidFill>
              </a:rPr>
              <a:t>intuitive</a:t>
            </a:r>
          </a:p>
          <a:p>
            <a:pPr algn="l" rtl="0" lvl="0" indent="-419100" marL="457200">
              <a:buClr>
                <a:srgbClr val="FFFFFF"/>
              </a:buClr>
              <a:buSzPct val="208333"/>
              <a:buFont typeface="Arial"/>
              <a:buChar char="•"/>
            </a:pPr>
            <a:r>
              <a:rPr sz="2400" lang="en">
                <a:solidFill>
                  <a:srgbClr val="FFFFFF"/>
                </a:solidFill>
              </a:rPr>
              <a:t>inspirational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5" name="Shape 45"/>
          <p:cNvSpPr/>
          <p:nvPr/>
        </p:nvSpPr>
        <p:spPr>
          <a:xfrm>
            <a:off y="2369750" x="67225"/>
            <a:ext cy="3988799" cx="615494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/>
              <a:t>Basic Idea:</a:t>
            </a:r>
          </a:p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Retrieves energy data from the clients house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Processes the information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Relay useful statistics back to the client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6" name="Shape 5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Smart Meters</a:t>
            </a:r>
          </a:p>
        </p:txBody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Replace conventional meters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Transmit power usage every 15 minutes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Connected directly to power company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58" name="Shape 58"/>
          <p:cNvSpPr/>
          <p:nvPr/>
        </p:nvSpPr>
        <p:spPr>
          <a:xfrm>
            <a:off y="3763087" x="5165500"/>
            <a:ext cy="3057525" cx="30861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3" name="Shape 63"/>
          <p:cNvSpPr/>
          <p:nvPr/>
        </p:nvSpPr>
        <p:spPr>
          <a:xfrm>
            <a:off y="3755200" x="4746950"/>
            <a:ext cy="3060500" cx="42503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y="1655277" x="457200"/>
            <a:ext cy="25242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37,290,374 installed as of January 10, 2013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SDGE, PG&amp;E, or SCE customers have one already in their homes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65" name="Shape 6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Smart Meters</a:t>
            </a:r>
          </a:p>
        </p:txBody>
      </p:sp>
      <p:sp>
        <p:nvSpPr>
          <p:cNvPr id="66" name="Shape 66"/>
          <p:cNvSpPr txBox="1"/>
          <p:nvPr/>
        </p:nvSpPr>
        <p:spPr>
          <a:xfrm>
            <a:off y="6325500" x="878275"/>
            <a:ext cy="532499" cx="3386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000" lang="en">
                <a:solidFill>
                  <a:srgbClr val="FFFFFF"/>
                </a:solidFill>
              </a:rPr>
              <a:t>source: http://www.eia.gov/tools/faqs/faq.cfm?id=108&amp;t=3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1" name="Shape 71"/>
          <p:cNvSpPr txBox="1"/>
          <p:nvPr>
            <p:ph type="title"/>
          </p:nvPr>
        </p:nvSpPr>
        <p:spPr>
          <a:xfrm>
            <a:off y="274650" x="2522075"/>
            <a:ext cy="1143000" cx="65375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How is this data used</a:t>
            </a:r>
          </a:p>
        </p:txBody>
      </p:sp>
      <p:sp>
        <p:nvSpPr>
          <p:cNvPr id="72" name="Shape 72"/>
          <p:cNvSpPr/>
          <p:nvPr/>
        </p:nvSpPr>
        <p:spPr>
          <a:xfrm>
            <a:off y="3635700" x="5256300"/>
            <a:ext cy="3266550" cx="38877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Most do not know it exists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Accessible via utility websites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Cumbersome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y="2035900" x="1022550"/>
            <a:ext cy="4366199" cx="71130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</a:p>
        </p:txBody>
      </p:sp>
      <p:sp>
        <p:nvSpPr>
          <p:cNvPr id="79" name="Shape 79"/>
          <p:cNvSpPr txBox="1"/>
          <p:nvPr>
            <p:ph idx="2" type="title"/>
          </p:nvPr>
        </p:nvSpPr>
        <p:spPr>
          <a:xfrm>
            <a:off y="427050" x="2749200"/>
            <a:ext cy="1143000" cx="57630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Green Button Data</a:t>
            </a:r>
          </a:p>
        </p:txBody>
      </p:sp>
      <p:sp>
        <p:nvSpPr>
          <p:cNvPr id="80" name="Shape 80"/>
          <p:cNvSpPr/>
          <p:nvPr/>
        </p:nvSpPr>
        <p:spPr>
          <a:xfrm>
            <a:off y="4998450" x="5394900"/>
            <a:ext cy="1859550" cx="37491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Government backed program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Started last year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Make power data accessible to consumers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API for third party applications to use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y="2035900" x="1022550"/>
            <a:ext cy="4366199" cx="71130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</a:p>
        </p:txBody>
      </p:sp>
      <p:sp>
        <p:nvSpPr>
          <p:cNvPr id="87" name="Shape 87"/>
          <p:cNvSpPr txBox="1"/>
          <p:nvPr>
            <p:ph idx="2" type="title"/>
          </p:nvPr>
        </p:nvSpPr>
        <p:spPr>
          <a:xfrm>
            <a:off y="427050" x="2749200"/>
            <a:ext cy="1143000" cx="57630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How we use it</a:t>
            </a:r>
          </a:p>
        </p:txBody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Easily view your home energy usage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Groups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Compete with friends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Smartphone accessible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Check your usage on the go!</a:t>
            </a:r>
          </a:p>
        </p:txBody>
      </p:sp>
      <p:sp>
        <p:nvSpPr>
          <p:cNvPr id="89" name="Shape 89"/>
          <p:cNvSpPr/>
          <p:nvPr/>
        </p:nvSpPr>
        <p:spPr>
          <a:xfrm>
            <a:off y="2359400" x="5473575"/>
            <a:ext cy="4498600" cx="36766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y="427350" x="2103625"/>
            <a:ext cy="1143000" cx="69941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Partner: San Diego Gas &amp; Electric</a:t>
            </a:r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In testing phases with SDGE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Currently have test data transmitted to our server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View your home power usage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Extensible to any utility</a:t>
            </a:r>
          </a:p>
        </p:txBody>
      </p:sp>
      <p:sp>
        <p:nvSpPr>
          <p:cNvPr id="96" name="Shape 96"/>
          <p:cNvSpPr/>
          <p:nvPr/>
        </p:nvSpPr>
        <p:spPr>
          <a:xfrm>
            <a:off y="4261725" x="2031450"/>
            <a:ext cy="2644449" cx="516250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y="427350" x="2390525"/>
            <a:ext cy="1143000" cx="67070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Partner: Energy Institute at UCSB </a:t>
            </a:r>
          </a:p>
        </p:txBody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Power usage for every on campus building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Green Button-style data</a:t>
            </a:r>
          </a:p>
          <a:p>
            <a:pPr rtl="0" lvl="0" indent="-419100" marL="457200">
              <a:lnSpc>
                <a:spcPct val="150000"/>
              </a:lnSpc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Energy Competitions</a:t>
            </a:r>
          </a:p>
          <a:p>
            <a:pPr rtl="0" lvl="1" indent="-381000" marL="914400">
              <a:lnSpc>
                <a:spcPct val="150000"/>
              </a:lnSpc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Competitions drive change</a:t>
            </a:r>
          </a:p>
          <a:p>
            <a:pPr rtl="0" lvl="2" indent="-381000" marL="1371600">
              <a:lnSpc>
                <a:spcPct val="150000"/>
              </a:lnSpc>
              <a:buClr>
                <a:srgbClr val="FFFFFF"/>
              </a:buClr>
              <a:buSzPct val="80000"/>
              <a:buFont typeface="Wingdings"/>
              <a:buChar char="§"/>
            </a:pPr>
            <a:r>
              <a:rPr lang="en">
                <a:solidFill>
                  <a:srgbClr val="FFFFFF"/>
                </a:solidFill>
              </a:rPr>
              <a:t>Main focus of our application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indent="457200" marL="2286000">
              <a:buNone/>
            </a:pPr>
            <a:r>
              <a:rPr lang="en"/>
              <a:t>What we're using</a:t>
            </a:r>
          </a:p>
        </p:txBody>
      </p:sp>
      <p:sp>
        <p:nvSpPr>
          <p:cNvPr id="108" name="Shape 108"/>
          <p:cNvSpPr/>
          <p:nvPr/>
        </p:nvSpPr>
        <p:spPr>
          <a:xfrm>
            <a:off y="3564731" x="3008238"/>
            <a:ext cy="2666937" cx="266693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y="3456438" x="457200"/>
            <a:ext cy="2554536" cx="255103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y="1876546" x="1384489"/>
            <a:ext cy="1438275" cx="317182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11" name="Shape 111"/>
          <p:cNvSpPr/>
          <p:nvPr/>
        </p:nvSpPr>
        <p:spPr>
          <a:xfrm>
            <a:off y="3564731" x="5753987"/>
            <a:ext cy="2096503" cx="2876103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y="1913550" x="4889757"/>
            <a:ext cy="1364268" cx="3206496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7" name="Shape 117"/>
          <p:cNvSpPr/>
          <p:nvPr/>
        </p:nvSpPr>
        <p:spPr>
          <a:xfrm>
            <a:off y="2679126" x="1654025"/>
            <a:ext cy="3329186" cx="599234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8" name="Shape 118"/>
          <p:cNvSpPr txBox="1"/>
          <p:nvPr/>
        </p:nvSpPr>
        <p:spPr>
          <a:xfrm>
            <a:off y="619700" x="2617500"/>
            <a:ext cy="991500" cx="55859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b="1" sz="3600" lang="en"/>
              <a:t>Operating Environment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DEMO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y="1655279" x="457200"/>
            <a:ext cy="49125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y="1966412" x="525325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Questions?</a:t>
            </a: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y="4758202" x="457200"/>
            <a:ext cy="1809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y="564912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Try it now!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y="4758202" x="457200"/>
            <a:ext cy="1809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42" name="Shape 142"/>
          <p:cNvSpPr/>
          <p:nvPr/>
        </p:nvSpPr>
        <p:spPr>
          <a:xfrm>
            <a:off y="1707925" x="2000250"/>
            <a:ext cy="5143500" cx="51435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Shape 147"/>
          <p:cNvSpPr txBox="1"/>
          <p:nvPr>
            <p:ph idx="1" type="body"/>
          </p:nvPr>
        </p:nvSpPr>
        <p:spPr>
          <a:xfrm>
            <a:off y="4758202" x="457200"/>
            <a:ext cy="1809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y="1966412" x="525325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/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y="4758202" x="457200"/>
            <a:ext cy="1809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50000"/>
              </a:lnSpc>
              <a:buNone/>
            </a:pPr>
            <a:r>
              <a:rPr lang="en">
                <a:solidFill>
                  <a:srgbClr val="FFFFFF"/>
                </a:solidFill>
              </a:rPr>
              <a:t>
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Shape 15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/>
              <a:t>Why?</a:t>
            </a:r>
          </a:p>
        </p:txBody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y="1683155" x="457200"/>
            <a:ext cy="4884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Put data to good use</a:t>
            </a:r>
          </a:p>
          <a:p>
            <a:pPr rtl="0" lvl="1" indent="-381000" marL="914400"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Educate and produce efficient electricity consumer</a:t>
            </a:r>
          </a:p>
          <a:p>
            <a:pPr rtl="0" lvl="1" indent="-381000" marL="914400">
              <a:buClr>
                <a:srgbClr val="FFFFFF"/>
              </a:buClr>
              <a:buSzPct val="80000"/>
              <a:buFont typeface="Courier New"/>
              <a:buChar char="o"/>
            </a:pPr>
            <a:r>
              <a:rPr lang="en">
                <a:solidFill>
                  <a:srgbClr val="FFFFFF"/>
                </a:solidFill>
              </a:rPr>
              <a:t>Use data set to find trends in electricity consumption</a:t>
            </a:r>
          </a:p>
          <a:p>
            <a:pPr rtl="0" lvl="2" indent="-381000" marL="1371600">
              <a:buClr>
                <a:srgbClr val="FFFFFF"/>
              </a:buClr>
              <a:buSzPct val="80000"/>
              <a:buFont typeface="Wingdings"/>
              <a:buChar char="§"/>
            </a:pPr>
            <a:r>
              <a:rPr lang="en">
                <a:solidFill>
                  <a:srgbClr val="FFFFFF"/>
                </a:solidFill>
              </a:rPr>
              <a:t>State, County, City, Neighborhood</a:t>
            </a:r>
          </a:p>
          <a:p>
            <a:pPr rtl="0" lvl="2" indent="-381000" marL="1371600">
              <a:buClr>
                <a:srgbClr val="FFFFFF"/>
              </a:buClr>
              <a:buSzPct val="80000"/>
              <a:buFont typeface="Wingdings"/>
              <a:buChar char="§"/>
            </a:pPr>
            <a:r>
              <a:rPr lang="en">
                <a:solidFill>
                  <a:srgbClr val="FFFFFF"/>
                </a:solidFill>
              </a:rPr>
              <a:t>Year, Month, Week, Day, Hour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4" name="Shape 16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Green Button Data</a:t>
            </a:r>
          </a:p>
        </p:txBody>
      </p:sp>
      <p:sp>
        <p:nvSpPr>
          <p:cNvPr id="165" name="Shape 165"/>
          <p:cNvSpPr/>
          <p:nvPr/>
        </p:nvSpPr>
        <p:spPr>
          <a:xfrm>
            <a:off y="3242475" x="2835984"/>
            <a:ext cy="1777722" cx="347203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0" name="Shape 17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Green Button Data</a:t>
            </a:r>
          </a:p>
        </p:txBody>
      </p:sp>
      <p:sp>
        <p:nvSpPr>
          <p:cNvPr id="171" name="Shape 171"/>
          <p:cNvSpPr/>
          <p:nvPr/>
        </p:nvSpPr>
        <p:spPr>
          <a:xfrm>
            <a:off y="2158867" x="1957601"/>
            <a:ext cy="4346532" cx="522879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Green Button Data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1" name="Shape 18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/>
              <a:t>Detailed Stats</a:t>
            </a:r>
          </a:p>
        </p:txBody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y="1600200" x="5797625"/>
            <a:ext cy="4967700" cx="28893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200" lang="en">
                <a:solidFill>
                  <a:srgbClr val="FFFFFF"/>
                </a:solidFill>
              </a:rPr>
              <a:t>Hourly, Daily, Monthly, Yearly data graphs.</a:t>
            </a:r>
          </a:p>
          <a:p>
            <a:r>
              <a:t/>
            </a:r>
          </a:p>
          <a:p>
            <a:pPr rtl="0" lvl="0">
              <a:buNone/>
            </a:pPr>
            <a:r>
              <a:rPr sz="2200" lang="en">
                <a:solidFill>
                  <a:srgbClr val="FFFFFF"/>
                </a:solidFill>
              </a:rPr>
              <a:t>Comparisons to neighborhood averages and previous pay periods</a:t>
            </a:r>
          </a:p>
          <a:p>
            <a:r>
              <a:t/>
            </a:r>
          </a:p>
          <a:p>
            <a:pPr rtl="0" lvl="0">
              <a:buNone/>
            </a:pPr>
            <a:r>
              <a:rPr sz="2200" lang="en">
                <a:solidFill>
                  <a:srgbClr val="FFFFFF"/>
                </a:solidFill>
              </a:rPr>
              <a:t>Detailed peak hour usage stats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83" name="Shape 183"/>
          <p:cNvSpPr/>
          <p:nvPr/>
        </p:nvSpPr>
        <p:spPr>
          <a:xfrm>
            <a:off y="1759894" x="212660"/>
            <a:ext cy="4953111" cx="553829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84" name="Shape 184"/>
          <p:cNvSpPr txBox="1"/>
          <p:nvPr/>
        </p:nvSpPr>
        <p:spPr>
          <a:xfrm>
            <a:off y="1803923" x="690665"/>
            <a:ext cy="2257199" cx="2120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9" name="Shape 18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>
              <a:buNone/>
            </a:pPr>
            <a:r>
              <a:rPr lang="en"/>
              <a:t>Setting up Alerts</a:t>
            </a:r>
          </a:p>
        </p:txBody>
      </p:sp>
      <p:sp>
        <p:nvSpPr>
          <p:cNvPr id="190" name="Shape 190"/>
          <p:cNvSpPr txBox="1"/>
          <p:nvPr>
            <p:ph idx="1" type="body"/>
          </p:nvPr>
        </p:nvSpPr>
        <p:spPr>
          <a:xfrm>
            <a:off y="1600200" x="6602567"/>
            <a:ext cy="4967700" cx="23951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Pick:</a:t>
            </a:r>
          </a:p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	a. type</a:t>
            </a:r>
          </a:p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	b. method</a:t>
            </a:r>
          </a:p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	c. value</a:t>
            </a:r>
          </a:p>
          <a:p>
            <a:r>
              <a:t/>
            </a:r>
          </a:p>
          <a:p>
            <a:pPr indent="0" marL="0">
              <a:buNone/>
            </a:pPr>
            <a:r>
              <a:rPr lang="en">
                <a:solidFill>
                  <a:srgbClr val="FFFFFF"/>
                </a:solidFill>
              </a:rPr>
              <a:t>Get alerts every month!</a:t>
            </a:r>
          </a:p>
        </p:txBody>
      </p:sp>
      <p:sp>
        <p:nvSpPr>
          <p:cNvPr id="191" name="Shape 191"/>
          <p:cNvSpPr/>
          <p:nvPr/>
        </p:nvSpPr>
        <p:spPr>
          <a:xfrm>
            <a:off y="1433748" x="345825"/>
            <a:ext cy="5286551" cx="60266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6" name="Shape 19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indent="0" marL="0">
              <a:buNone/>
            </a:pPr>
            <a:r>
              <a:rPr lang="en"/>
              <a:t>Progress</a:t>
            </a:r>
          </a:p>
        </p:txBody>
      </p:sp>
      <p:sp>
        <p:nvSpPr>
          <p:cNvPr id="197" name="Shape 19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F3F3F3"/>
                </a:solidFill>
              </a:rPr>
              <a:t>Done:</a:t>
            </a:r>
          </a:p>
          <a:p>
            <a:pPr rtl="0" lvl="0">
              <a:buNone/>
            </a:pPr>
            <a:r>
              <a:rPr lang="en"/>
              <a:t>- 	Web server up and running</a:t>
            </a:r>
          </a:p>
          <a:p>
            <a:pPr rtl="0" lvl="0">
              <a:buNone/>
            </a:pPr>
            <a:r>
              <a:rPr lang="en"/>
              <a:t>- 	Database setup</a:t>
            </a:r>
          </a:p>
          <a:p>
            <a:pPr rtl="0" lvl="0">
              <a:buNone/>
            </a:pPr>
            <a:r>
              <a:rPr lang="en"/>
              <a:t>- 	Login page, registration page, database    </a:t>
            </a:r>
          </a:p>
          <a:p>
            <a:pPr rtl="0" lvl="0" indent="457200">
              <a:buNone/>
            </a:pPr>
            <a:r>
              <a:rPr lang="en"/>
              <a:t>integration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	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2" name="Shape 20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 indent="0" marL="0">
              <a:buNone/>
            </a:pPr>
            <a:r>
              <a:rPr lang="en"/>
              <a:t>Progress</a:t>
            </a:r>
          </a:p>
        </p:txBody>
      </p:sp>
      <p:sp>
        <p:nvSpPr>
          <p:cNvPr id="203" name="Shape 203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F3F3F3"/>
                </a:solidFill>
              </a:rPr>
              <a:t>Done:</a:t>
            </a:r>
          </a:p>
          <a:p>
            <a:pPr rtl="0" lvl="0">
              <a:buNone/>
            </a:pPr>
            <a:r>
              <a:rPr lang="en"/>
              <a:t>- 	Web server up and running</a:t>
            </a:r>
          </a:p>
          <a:p>
            <a:pPr rtl="0" lvl="0">
              <a:buNone/>
            </a:pPr>
            <a:r>
              <a:rPr lang="en"/>
              <a:t>- 	Database setup</a:t>
            </a:r>
          </a:p>
          <a:p>
            <a:pPr rtl="0" lvl="0">
              <a:buNone/>
            </a:pPr>
            <a:r>
              <a:rPr lang="en"/>
              <a:t>- 	Login page, registration page, database</a:t>
            </a:r>
          </a:p>
          <a:p>
            <a:pPr rtl="0" lvl="0" indent="457200">
              <a:buNone/>
            </a:pPr>
            <a:r>
              <a:rPr lang="en"/>
              <a:t>integration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	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8" name="Shape 208"/>
          <p:cNvSpPr txBox="1"/>
          <p:nvPr/>
        </p:nvSpPr>
        <p:spPr>
          <a:xfrm>
            <a:off y="1810088" x="554950"/>
            <a:ext cy="557400" cx="21353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 indent="457200">
              <a:buNone/>
            </a:pPr>
            <a:r>
              <a:rPr b="1" sz="1600" lang="en"/>
              <a:t>Store XML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y="761300" x="554950"/>
            <a:ext cy="705600" cx="8012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indent="457200" marL="2743200">
              <a:buNone/>
            </a:pPr>
            <a:r>
              <a:rPr b="1" sz="3600" lang="en"/>
              <a:t>To do's</a:t>
            </a:r>
          </a:p>
        </p:txBody>
      </p:sp>
      <p:sp>
        <p:nvSpPr>
          <p:cNvPr id="210" name="Shape 210"/>
          <p:cNvSpPr/>
          <p:nvPr/>
        </p:nvSpPr>
        <p:spPr>
          <a:xfrm>
            <a:off y="2367488" x="83575"/>
            <a:ext cy="2888586" cx="290451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11" name="Shape 211"/>
          <p:cNvSpPr/>
          <p:nvPr/>
        </p:nvSpPr>
        <p:spPr>
          <a:xfrm>
            <a:off y="3533383" x="3063675"/>
            <a:ext cy="457200" cx="51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2" name="Shape 212"/>
          <p:cNvSpPr/>
          <p:nvPr/>
        </p:nvSpPr>
        <p:spPr>
          <a:xfrm>
            <a:off y="2884880" x="3063675"/>
            <a:ext cy="1853801" cx="215767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213" name="Shape 213"/>
          <p:cNvSpPr/>
          <p:nvPr/>
        </p:nvSpPr>
        <p:spPr>
          <a:xfrm>
            <a:off y="3533383" x="5051928"/>
            <a:ext cy="457200" cx="4934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14" name="Shape 214"/>
          <p:cNvSpPr txBox="1"/>
          <p:nvPr/>
        </p:nvSpPr>
        <p:spPr>
          <a:xfrm>
            <a:off y="1810088" x="3180550"/>
            <a:ext cy="457200" cx="2760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1600" lang="en"/>
              <a:t>Graph the Stored Data</a:t>
            </a:r>
          </a:p>
        </p:txBody>
      </p:sp>
      <p:sp>
        <p:nvSpPr>
          <p:cNvPr id="215" name="Shape 215"/>
          <p:cNvSpPr/>
          <p:nvPr/>
        </p:nvSpPr>
        <p:spPr>
          <a:xfrm>
            <a:off y="2367488" x="5804975"/>
            <a:ext cy="2788991" cx="312018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16" name="Shape 216"/>
          <p:cNvSpPr txBox="1"/>
          <p:nvPr/>
        </p:nvSpPr>
        <p:spPr>
          <a:xfrm>
            <a:off y="1810088" x="5652494"/>
            <a:ext cy="416099" cx="35615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1600" lang="en"/>
              <a:t>Show graphs and include features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1" name="Shape 221"/>
          <p:cNvSpPr txBox="1"/>
          <p:nvPr>
            <p:ph type="ctrTitle"/>
          </p:nvPr>
        </p:nvSpPr>
        <p:spPr>
          <a:xfrm rot="1061">
            <a:off y="820894" x="685799"/>
            <a:ext cy="690900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sz="3600" lang="en"/>
              <a:t>  Obstacles</a:t>
            </a:r>
          </a:p>
        </p:txBody>
      </p:sp>
      <p:sp>
        <p:nvSpPr>
          <p:cNvPr id="222" name="Shape 222"/>
          <p:cNvSpPr txBox="1"/>
          <p:nvPr>
            <p:ph idx="1" type="subTitle"/>
          </p:nvPr>
        </p:nvSpPr>
        <p:spPr>
          <a:xfrm>
            <a:off y="1709507" x="2317950"/>
            <a:ext cy="4764899" cx="6140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3F3F3"/>
                </a:solidFill>
              </a:rPr>
              <a:t>New technologies</a:t>
            </a:r>
          </a:p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3F3F3"/>
                </a:solidFill>
              </a:rPr>
              <a:t>Different Platforms</a:t>
            </a:r>
          </a:p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b="1" lang="en">
                <a:solidFill>
                  <a:srgbClr val="F3F3F3"/>
                </a:solidFill>
              </a:rPr>
              <a:t>Power Companies responding	</a:t>
            </a:r>
          </a:p>
          <a:p>
            <a:pPr algn="l" rtl="0" lvl="0">
              <a:buNone/>
            </a:pPr>
            <a:r>
              <a:rPr b="1" lang="en">
                <a:solidFill>
                  <a:srgbClr val="F3F3F3"/>
                </a:solidFill>
              </a:rPr>
              <a:t>	(issues with connections)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7" name="Shape 227"/>
          <p:cNvSpPr txBox="1"/>
          <p:nvPr>
            <p:ph type="ctrTitle"/>
          </p:nvPr>
        </p:nvSpPr>
        <p:spPr>
          <a:xfrm rot="1061">
            <a:off y="877769" x="685799"/>
            <a:ext cy="690900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3600" lang="en"/>
              <a:t>         Overcoming Obstacles</a:t>
            </a:r>
          </a:p>
        </p:txBody>
      </p:sp>
      <p:sp>
        <p:nvSpPr>
          <p:cNvPr id="228" name="Shape 228"/>
          <p:cNvSpPr txBox="1"/>
          <p:nvPr>
            <p:ph idx="1" type="subTitle"/>
          </p:nvPr>
        </p:nvSpPr>
        <p:spPr>
          <a:xfrm>
            <a:off y="1733807" x="2317950"/>
            <a:ext cy="4764899" cx="6140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3F3F3"/>
                </a:solidFill>
              </a:rPr>
              <a:t>Lots of reading</a:t>
            </a:r>
          </a:p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3F3F3"/>
                </a:solidFill>
              </a:rPr>
              <a:t>Cooperation of the power companies</a:t>
            </a:r>
          </a:p>
          <a:p>
            <a:pPr algn="l" rtl="0" lvl="0" indent="-419100" marL="457200">
              <a:buClr>
                <a:srgbClr val="F3F3F3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3F3F3"/>
                </a:solidFill>
              </a:rPr>
              <a:t>Thinking of backup options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3" name="Shape 233"/>
          <p:cNvSpPr txBox="1"/>
          <p:nvPr/>
        </p:nvSpPr>
        <p:spPr>
          <a:xfrm>
            <a:off y="3297125" x="2395900"/>
            <a:ext cy="1516799" cx="43302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4800" lang="en"/>
              <a:t>  Questions?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8" name="Shape 23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Why?</a:t>
            </a:r>
          </a:p>
        </p:txBody>
      </p:sp>
      <p:sp>
        <p:nvSpPr>
          <p:cNvPr id="239" name="Shape 239"/>
          <p:cNvSpPr txBox="1"/>
          <p:nvPr>
            <p:ph idx="1" type="body"/>
          </p:nvPr>
        </p:nvSpPr>
        <p:spPr>
          <a:xfrm>
            <a:off y="2041527" x="402901"/>
            <a:ext cy="4526100" cx="82839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60% of oil fields are now post peak and the average rate of decline is 6-9%</a:t>
            </a:r>
          </a:p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To meet increasing demands, we need 120 million barrels of oil a day by 2030. </a:t>
            </a:r>
          </a:p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Saudi Arabia has the world’s biggest oil fields, and it produces 10 million barrels a day now.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100" lang="en"/>
              <a:t>Information retreived from ENGR101 PPT-Olivia Walling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4" name="Shape 244"/>
          <p:cNvSpPr txBox="1"/>
          <p:nvPr>
            <p:ph type="title"/>
          </p:nvPr>
        </p:nvSpPr>
        <p:spPr>
          <a:xfrm>
            <a:off y="2267575" x="6043170"/>
            <a:ext cy="368700" cx="2007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sz="1800" lang="en"/>
              <a:t>Power Company</a:t>
            </a:r>
          </a:p>
        </p:txBody>
      </p:sp>
      <p:sp>
        <p:nvSpPr>
          <p:cNvPr id="245" name="Shape 245"/>
          <p:cNvSpPr/>
          <p:nvPr/>
        </p:nvSpPr>
        <p:spPr>
          <a:xfrm>
            <a:off y="1976275" x="1036075"/>
            <a:ext cy="914400" cx="9144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6" name="Shape 246"/>
          <p:cNvSpPr/>
          <p:nvPr/>
        </p:nvSpPr>
        <p:spPr>
          <a:xfrm>
            <a:off y="2223325" x="2418725"/>
            <a:ext cy="457200" cx="9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7" name="Shape 247"/>
          <p:cNvSpPr/>
          <p:nvPr/>
        </p:nvSpPr>
        <p:spPr>
          <a:xfrm>
            <a:off y="1994733" x="3746100"/>
            <a:ext cy="914382" cx="914382"/>
          </a:xfrm>
          <a:prstGeom prst="lightningBol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8" name="Shape 248"/>
          <p:cNvSpPr/>
          <p:nvPr/>
        </p:nvSpPr>
        <p:spPr>
          <a:xfrm>
            <a:off y="2223325" x="4999700"/>
            <a:ext cy="457200" cx="9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49" name="Shape 249"/>
          <p:cNvSpPr/>
          <p:nvPr/>
        </p:nvSpPr>
        <p:spPr>
          <a:xfrm>
            <a:off y="1995019" x="6116920"/>
            <a:ext cy="876910" cx="2444556"/>
          </a:xfrm>
          <a:prstGeom prst="flowChartProcess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0" name="Shape 250"/>
          <p:cNvSpPr txBox="1"/>
          <p:nvPr/>
        </p:nvSpPr>
        <p:spPr>
          <a:xfrm>
            <a:off y="2145025" x="6116920"/>
            <a:ext cy="576900" cx="2523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2400" lang="en"/>
              <a:t>Power Company</a:t>
            </a:r>
          </a:p>
        </p:txBody>
      </p:sp>
      <p:sp>
        <p:nvSpPr>
          <p:cNvPr id="251" name="Shape 251"/>
          <p:cNvSpPr/>
          <p:nvPr/>
        </p:nvSpPr>
        <p:spPr>
          <a:xfrm>
            <a:off y="3401675" x="7110598"/>
            <a:ext cy="914400" cx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2" name="Shape 252"/>
          <p:cNvSpPr/>
          <p:nvPr/>
        </p:nvSpPr>
        <p:spPr>
          <a:xfrm>
            <a:off y="4506784" x="6262198"/>
            <a:ext cy="1582499" cx="2153999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3" name="Shape 253"/>
          <p:cNvSpPr/>
          <p:nvPr/>
        </p:nvSpPr>
        <p:spPr>
          <a:xfrm>
            <a:off y="4860925" x="6297450"/>
            <a:ext cy="1248050" cx="1868350"/>
          </a:xfrm>
          <a:custGeom>
            <a:pathLst>
              <a:path w="74734" extrusionOk="0" h="49922">
                <a:moveTo>
                  <a:pt y="22666" x="0"/>
                </a:moveTo>
                <a:cubicBezTo>
                  <a:pt y="13873" x="3517"/>
                  <a:pt y="13482" x="2665"/>
                  <a:pt y="5081" x="7034"/>
                </a:cubicBezTo>
                <a:cubicBezTo>
                  <a:pt y="3050" x="8089"/>
                  <a:pt y="-1535" x="11754"/>
                  <a:pt y="685" x="12309"/>
                </a:cubicBezTo>
                <a:cubicBezTo>
                  <a:pt y="6763" x="13828"/>
                  <a:pt y="13070" x="14306"/>
                  <a:pt y="19149" x="15826"/>
                </a:cubicBezTo>
                <a:cubicBezTo>
                  <a:pt y="21441" x="16399"/>
                  <a:pt y="23993" x="17376"/>
                  <a:pt y="25304" x="19343"/>
                </a:cubicBezTo>
                <a:cubicBezTo>
                  <a:pt y="25993" x="20377"/>
                  <a:pt y="29104" x="21543"/>
                  <a:pt y="27941" x="21980"/>
                </a:cubicBezTo>
                <a:cubicBezTo>
                  <a:pt y="21805" x="24281"/>
                  <a:pt y="16017" x="27470"/>
                  <a:pt y="10357" x="30773"/>
                </a:cubicBezTo>
                <a:cubicBezTo>
                  <a:pt y="9976" x="30994"/>
                  <a:pt y="9037" x="30773"/>
                  <a:pt y="9477" x="30773"/>
                </a:cubicBezTo>
                <a:cubicBezTo>
                  <a:pt y="16468" x="30773"/>
                  <a:pt y="21334" x="38193"/>
                  <a:pt y="27062" x="42203"/>
                </a:cubicBezTo>
                <a:cubicBezTo>
                  <a:pt y="29608" x="43985"/>
                  <a:pt y="32233" x="40132"/>
                  <a:pt y="33217" x="43082"/>
                </a:cubicBezTo>
                <a:cubicBezTo>
                  <a:pt y="33655" x="44398"/>
                  <a:pt y="17716" x="46143"/>
                  <a:pt y="18270" x="48357"/>
                </a:cubicBezTo>
                <a:cubicBezTo>
                  <a:pt y="20085" x="55622"/>
                  <a:pt y="31519" x="55433"/>
                  <a:pt y="37613" x="59787"/>
                </a:cubicBezTo>
                <a:cubicBezTo>
                  <a:pt y="42864" x="63538"/>
                  <a:pt y="43467" x="74734"/>
                  <a:pt y="49922" x="74734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sp>
      <p:sp>
        <p:nvSpPr>
          <p:cNvPr id="254" name="Shape 254"/>
          <p:cNvSpPr/>
          <p:nvPr/>
        </p:nvSpPr>
        <p:spPr>
          <a:xfrm>
            <a:off y="4883450" x="3305472"/>
            <a:ext cy="593399" cx="2366099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5" name="Shape 255"/>
          <p:cNvSpPr/>
          <p:nvPr/>
        </p:nvSpPr>
        <p:spPr>
          <a:xfrm>
            <a:off y="4498282" x="595414"/>
            <a:ext cy="1599505" cx="230336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56" name="Shape 256"/>
          <p:cNvSpPr txBox="1"/>
          <p:nvPr/>
        </p:nvSpPr>
        <p:spPr>
          <a:xfrm>
            <a:off y="4547675" x="6663450"/>
            <a:ext cy="340499" cx="1556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Consumption</a:t>
            </a:r>
          </a:p>
        </p:txBody>
      </p:sp>
      <p:sp>
        <p:nvSpPr>
          <p:cNvPr id="257" name="Shape 257"/>
          <p:cNvSpPr/>
          <p:nvPr/>
        </p:nvSpPr>
        <p:spPr>
          <a:xfrm>
            <a:off y="3126700" x="1518495"/>
            <a:ext cy="914400" cx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8" name="Shape 258"/>
          <p:cNvSpPr/>
          <p:nvPr/>
        </p:nvSpPr>
        <p:spPr>
          <a:xfrm>
            <a:off y="3100850" x="914400"/>
            <a:ext cy="914400" cx="457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259" name="Shape 259"/>
          <p:cNvSpPr/>
          <p:nvPr/>
        </p:nvSpPr>
        <p:spPr>
          <a:xfrm rot="-1508321">
            <a:off y="3568146" x="3088161"/>
            <a:ext cy="457242" cx="271108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4" name="Shape 26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>
              <a:buNone/>
            </a:pPr>
            <a:r>
              <a:rPr lang="en"/>
              <a:t>Why?</a:t>
            </a:r>
          </a:p>
        </p:txBody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y="1683155" x="457200"/>
            <a:ext cy="48846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1 billion 60-watt incandescent light bulbs weigh 20,000 metric tons (with packaging)</a:t>
            </a:r>
          </a:p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When they are all on, they will consume 60 megawatts of electricity, requiring a new power plant just to keep them burning</a:t>
            </a:r>
          </a:p>
          <a:p>
            <a:pPr rtl="0" lvl="0" indent="-419100" marL="457200">
              <a:buClr>
                <a:srgbClr val="FFFFFF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FFFFFF"/>
                </a:solidFill>
              </a:rPr>
              <a:t>If the power plant is coal fired, it will burn 1.4 million tons of coal per year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100" lang="en"/>
              <a:t>Information retreived from ENGR101 PPT-Olivia Walling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/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0" name="Shape 27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algn="ctr" rtl="0" lvl="0" indent="0" marL="0">
              <a:buNone/>
            </a:pPr>
            <a:r>
              <a:rPr lang="en"/>
              <a:t>Progress</a:t>
            </a:r>
          </a:p>
        </p:txBody>
      </p:sp>
      <p:sp>
        <p:nvSpPr>
          <p:cNvPr id="271" name="Shape 271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F3F3F3"/>
                </a:solidFill>
              </a:rPr>
              <a:t>Done:</a:t>
            </a:r>
          </a:p>
          <a:p>
            <a:pPr rtl="0" lvl="0">
              <a:buNone/>
            </a:pPr>
            <a:r>
              <a:rPr lang="en"/>
              <a:t>- 	Web server up and running</a:t>
            </a:r>
          </a:p>
          <a:p>
            <a:pPr rtl="0" lvl="0">
              <a:buNone/>
            </a:pPr>
            <a:r>
              <a:rPr lang="en"/>
              <a:t>- 	Database setup</a:t>
            </a:r>
          </a:p>
          <a:p>
            <a:pPr rtl="0" lvl="0">
              <a:buNone/>
            </a:pPr>
            <a:r>
              <a:rPr lang="en"/>
              <a:t>- 	Login page, registration page, database link</a:t>
            </a:r>
          </a:p>
          <a:p>
            <a:pPr rtl="0" lvl="0">
              <a:buNone/>
            </a:pPr>
            <a:r>
              <a:rPr lang="en">
                <a:solidFill>
                  <a:srgbClr val="FFFFFF"/>
                </a:solidFill>
              </a:rPr>
              <a:t>Todo:</a:t>
            </a:r>
          </a:p>
          <a:p>
            <a:pPr rtl="0" lvl="0">
              <a:buNone/>
            </a:pPr>
            <a:r>
              <a:rPr lang="en"/>
              <a:t>-	Store XML data</a:t>
            </a:r>
          </a:p>
          <a:p>
            <a:pPr rtl="0" lvl="0">
              <a:buNone/>
            </a:pPr>
            <a:r>
              <a:rPr lang="en"/>
              <a:t>-	Graph stored data</a:t>
            </a:r>
          </a:p>
          <a:p>
            <a:pPr rtl="0" lvl="0">
              <a:buNone/>
            </a:pPr>
            <a:r>
              <a:rPr lang="en"/>
              <a:t>-	Website Features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	</a:t>
            </a:r>
          </a:p>
        </p:txBody>
      </p:sp>
      <p:sp>
        <p:nvSpPr>
          <p:cNvPr id="272" name="Shape 272"/>
          <p:cNvSpPr/>
          <p:nvPr/>
        </p:nvSpPr>
        <p:spPr>
          <a:xfrm>
            <a:off y="1973750" x="5762825"/>
            <a:ext cy="768385" cx="333969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73" name="Shape 273"/>
          <p:cNvSpPr/>
          <p:nvPr/>
        </p:nvSpPr>
        <p:spPr>
          <a:xfrm>
            <a:off y="2792525" x="5762825"/>
            <a:ext cy="545588" cx="334757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